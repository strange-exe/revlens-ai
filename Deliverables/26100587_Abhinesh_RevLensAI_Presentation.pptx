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85F4"/>
    <a:srgbClr val="EA4335"/>
    <a:srgbClr val="34A853"/>
    <a:srgbClr val="FBBC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0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189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457189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457189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457189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457189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457189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revlens.abhinesh.codes/" TargetMode="External"/><Relationship Id="rId2" Type="http://schemas.openxmlformats.org/officeDocument/2006/relationships/hyperlink" Target="https://github.com/strange-exe/revlens-ai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revlens.abhinesh.codes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revlens-backend.onrender.com/docs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revlens-backend.onrender.com/" TargetMode="External"/><Relationship Id="rId2" Type="http://schemas.openxmlformats.org/officeDocument/2006/relationships/hyperlink" Target="https://revlens.abhinesh.codes/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hyperlink" Target="https://revlens-backend.onrender.com/" TargetMode="External"/><Relationship Id="rId7" Type="http://schemas.openxmlformats.org/officeDocument/2006/relationships/hyperlink" Target="https://freepngimg.com/png/12286-github-transparent" TargetMode="External"/><Relationship Id="rId2" Type="http://schemas.openxmlformats.org/officeDocument/2006/relationships/hyperlink" Target="https://revlens.abhinesh.codes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hyperlink" Target="https://github.com/strange-exe/revlens-ai" TargetMode="External"/><Relationship Id="rId4" Type="http://schemas.openxmlformats.org/officeDocument/2006/relationships/hyperlink" Target="https://revlens-backend.onrender.com/docs" TargetMode="External"/><Relationship Id="rId9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2" y="457200"/>
            <a:ext cx="10728655" cy="759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8B5CF6"/>
                </a:solidFill>
              </a:defRPr>
            </a:pPr>
            <a:r>
              <a:rPr sz="2600" dirty="0" err="1"/>
              <a:t>RevLens</a:t>
            </a:r>
            <a:r>
              <a:rPr sz="2600" dirty="0"/>
              <a:t> AI </a:t>
            </a:r>
            <a:r>
              <a:rPr lang="en-IN" sz="2600" dirty="0"/>
              <a:t>-</a:t>
            </a:r>
            <a:r>
              <a:rPr sz="2600" dirty="0"/>
              <a:t> Review Intelligence &amp; Analytics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rPr sz="1400" dirty="0"/>
              <a:t>AI-Powered Homestay Review Management &amp; Trust Analytics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1" y="1842631"/>
            <a:ext cx="944849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200"/>
              </a:spcAft>
              <a:defRPr sz="1800">
                <a:solidFill>
                  <a:srgbClr val="F1F5F9"/>
                </a:solidFill>
              </a:defRPr>
            </a:pPr>
            <a:r>
              <a:rPr sz="2800" b="1" dirty="0">
                <a:latin typeface="+mj-lt"/>
              </a:rPr>
              <a:t>Project Title: </a:t>
            </a:r>
            <a:r>
              <a:rPr sz="2800" b="1" dirty="0" err="1">
                <a:gradFill flip="none" rotWithShape="1">
                  <a:gsLst>
                    <a:gs pos="0">
                      <a:srgbClr val="EA4335">
                        <a:tint val="66000"/>
                        <a:satMod val="160000"/>
                      </a:srgbClr>
                    </a:gs>
                    <a:gs pos="50000">
                      <a:srgbClr val="EA4335">
                        <a:tint val="44500"/>
                        <a:satMod val="160000"/>
                      </a:srgbClr>
                    </a:gs>
                    <a:gs pos="100000">
                      <a:srgbClr val="EA4335">
                        <a:tint val="23500"/>
                        <a:satMod val="160000"/>
                      </a:srgbClr>
                    </a:gs>
                  </a:gsLst>
                  <a:lin ang="13500000" scaled="1"/>
                  <a:tileRect/>
                </a:gradFill>
                <a:latin typeface="+mj-lt"/>
              </a:rPr>
              <a:t>Rev</a:t>
            </a:r>
            <a:r>
              <a:rPr sz="2800" b="1" dirty="0" err="1">
                <a:gradFill>
                  <a:gsLst>
                    <a:gs pos="40000">
                      <a:srgbClr val="4285F4"/>
                    </a:gs>
                    <a:gs pos="70000">
                      <a:schemeClr val="accent1">
                        <a:lumMod val="45000"/>
                        <a:lumOff val="55000"/>
                      </a:schemeClr>
                    </a:gs>
                    <a:gs pos="84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atin typeface="+mj-lt"/>
              </a:rPr>
              <a:t>Lens</a:t>
            </a:r>
            <a:r>
              <a:rPr sz="2800" b="1" dirty="0">
                <a:latin typeface="+mj-lt"/>
              </a:rPr>
              <a:t> </a:t>
            </a:r>
            <a:r>
              <a:rPr sz="2800" b="1" dirty="0">
                <a:gradFill flip="none" rotWithShape="1">
                  <a:gsLst>
                    <a:gs pos="0">
                      <a:srgbClr val="4285F4">
                        <a:tint val="66000"/>
                        <a:satMod val="160000"/>
                      </a:srgbClr>
                    </a:gs>
                    <a:gs pos="50000">
                      <a:srgbClr val="4285F4">
                        <a:tint val="44500"/>
                        <a:satMod val="160000"/>
                      </a:srgbClr>
                    </a:gs>
                    <a:gs pos="100000">
                      <a:srgbClr val="4285F4">
                        <a:tint val="23500"/>
                        <a:satMod val="160000"/>
                      </a:srgbClr>
                    </a:gs>
                  </a:gsLst>
                  <a:lin ang="5400000" scaled="1"/>
                  <a:tileRect/>
                </a:gradFill>
                <a:latin typeface="+mj-lt"/>
              </a:rPr>
              <a:t>AI</a:t>
            </a:r>
          </a:p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</a:defRPr>
            </a:pPr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</a:rPr>
              <a:t>•</a:t>
            </a:r>
            <a:r>
              <a:rPr dirty="0"/>
              <a:t> Intern Name: </a:t>
            </a:r>
            <a:r>
              <a:rPr b="1" dirty="0"/>
              <a:t>Abhinesh Gangwar</a:t>
            </a:r>
          </a:p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</a:defRPr>
            </a:pPr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</a:rPr>
              <a:t>•</a:t>
            </a:r>
            <a:r>
              <a:rPr dirty="0"/>
              <a:t> Intern ID: </a:t>
            </a:r>
            <a:r>
              <a:rPr b="1" dirty="0"/>
              <a:t>TBI-26100587</a:t>
            </a:r>
          </a:p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</a:defRPr>
            </a:pPr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</a:rPr>
              <a:t>•</a:t>
            </a:r>
            <a:r>
              <a:rPr dirty="0"/>
              <a:t> University: Graphic Era Deemed To Be University</a:t>
            </a:r>
          </a:p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</a:defRPr>
            </a:pPr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</a:rPr>
              <a:t>•</a:t>
            </a:r>
            <a:r>
              <a:rPr dirty="0"/>
              <a:t> GitHub</a:t>
            </a:r>
            <a:r>
              <a:rPr b="1" dirty="0"/>
              <a:t>: </a:t>
            </a:r>
            <a:r>
              <a:rPr b="1" dirty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https://github.com/strange-exe/revlens-ai</a:t>
            </a:r>
            <a:endParaRPr b="1" dirty="0">
              <a:solidFill>
                <a:schemeClr val="accent2"/>
              </a:solidFill>
            </a:endParaRPr>
          </a:p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</a:defRPr>
            </a:pPr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</a:rPr>
              <a:t>•</a:t>
            </a:r>
            <a:r>
              <a:rPr dirty="0"/>
              <a:t> Live App: </a:t>
            </a:r>
            <a:r>
              <a:rPr b="1" dirty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https://revlens.abhinesh.codes</a:t>
            </a:r>
            <a:endParaRPr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2" y="457200"/>
            <a:ext cx="10728655" cy="759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8B5CF6"/>
                </a:solidFill>
              </a:defRPr>
            </a:pPr>
            <a:r>
              <a:rPr sz="2600" dirty="0"/>
              <a:t>What Problem Are We Solving?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rPr sz="1400" dirty="0"/>
              <a:t>Challenges in Homestay &amp; Hospitality Feedback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2" y="1737360"/>
            <a:ext cx="10728655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just"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•</a:t>
            </a:r>
            <a:r>
              <a:rPr sz="1600" dirty="0"/>
              <a:t> </a:t>
            </a:r>
            <a:r>
              <a:rPr sz="1600" b="1" dirty="0"/>
              <a:t>Fragmented Feedback Signals: </a:t>
            </a:r>
            <a:r>
              <a:rPr sz="1600" dirty="0"/>
              <a:t>Homestay owners receive guest feedback across multiple channels without unified tracking.</a:t>
            </a:r>
            <a:endParaRPr lang="en-IN" sz="1600" dirty="0"/>
          </a:p>
          <a:p>
            <a:pPr algn="just"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endParaRPr sz="1600" dirty="0"/>
          </a:p>
          <a:p>
            <a:pPr algn="just"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•</a:t>
            </a:r>
            <a:r>
              <a:rPr sz="1600" dirty="0"/>
              <a:t> </a:t>
            </a:r>
            <a:r>
              <a:rPr sz="1600" b="1" dirty="0"/>
              <a:t>Reputational Risk: </a:t>
            </a:r>
            <a:r>
              <a:rPr sz="1600" dirty="0"/>
              <a:t>Unmoderated spam, link injections, or unaddressed negative reviews damage host ratings rapidly.</a:t>
            </a:r>
            <a:endParaRPr lang="en-IN" sz="1600" dirty="0"/>
          </a:p>
          <a:p>
            <a:pPr algn="just"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endParaRPr sz="1600" dirty="0"/>
          </a:p>
          <a:p>
            <a:pPr algn="just"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•</a:t>
            </a:r>
            <a:r>
              <a:rPr sz="1600" dirty="0"/>
              <a:t> </a:t>
            </a:r>
            <a:r>
              <a:rPr sz="1600" b="1" dirty="0"/>
              <a:t>Operational Bottleneck: </a:t>
            </a:r>
            <a:r>
              <a:rPr sz="1600" dirty="0"/>
              <a:t>Manually crafting personalized, tone-matched responses for every guest consumes hours daily.</a:t>
            </a:r>
            <a:endParaRPr lang="en-IN" sz="1600" dirty="0"/>
          </a:p>
          <a:p>
            <a:pPr algn="just"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endParaRPr sz="1600" dirty="0"/>
          </a:p>
          <a:p>
            <a:pPr algn="just"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•</a:t>
            </a:r>
            <a:r>
              <a:rPr sz="1600" dirty="0"/>
              <a:t> </a:t>
            </a:r>
            <a:r>
              <a:rPr sz="1600" b="1" dirty="0"/>
              <a:t>Lack of Actionable Insights: </a:t>
            </a:r>
            <a:r>
              <a:rPr sz="1600" dirty="0"/>
              <a:t>Hosts lack real-time analytics to spot recurring maintenance or service issues across properties.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2" y="457200"/>
            <a:ext cx="10728655" cy="759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8B5CF6"/>
                </a:solidFill>
              </a:defRPr>
            </a:pPr>
            <a:r>
              <a:rPr sz="2600" dirty="0"/>
              <a:t>Tech Stack Selected &amp; Rationale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rPr sz="1400" dirty="0"/>
              <a:t>Modern, High-Performance Full-Stack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2" y="1737360"/>
            <a:ext cx="10728655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just"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•</a:t>
            </a:r>
            <a:r>
              <a:rPr sz="1600" dirty="0"/>
              <a:t> </a:t>
            </a:r>
            <a:r>
              <a:rPr sz="1600" b="1" dirty="0"/>
              <a:t>Frontend </a:t>
            </a:r>
            <a:r>
              <a:rPr lang="en-IN" sz="1600" b="1" dirty="0"/>
              <a:t>:</a:t>
            </a:r>
            <a:r>
              <a:rPr sz="1600" dirty="0"/>
              <a:t> React 18 (Vite) + Tailwind CSS</a:t>
            </a:r>
            <a:r>
              <a:rPr lang="en-IN" sz="1600" dirty="0"/>
              <a:t> - </a:t>
            </a:r>
            <a:r>
              <a:rPr sz="1600" dirty="0"/>
              <a:t>Fast component rendering, dynamic dark mode tokens, and crisp responsive layout.</a:t>
            </a:r>
          </a:p>
          <a:p>
            <a:pPr algn="just"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•</a:t>
            </a:r>
            <a:r>
              <a:rPr sz="1600" dirty="0"/>
              <a:t> </a:t>
            </a:r>
            <a:r>
              <a:rPr sz="1600" b="1" dirty="0"/>
              <a:t>Backend </a:t>
            </a:r>
            <a:r>
              <a:rPr lang="en-IN" sz="1600" b="1" dirty="0"/>
              <a:t>:</a:t>
            </a:r>
            <a:r>
              <a:rPr sz="1600" dirty="0"/>
              <a:t> </a:t>
            </a:r>
            <a:r>
              <a:rPr sz="1600" dirty="0" err="1"/>
              <a:t>FastAPI</a:t>
            </a:r>
            <a:r>
              <a:rPr sz="1600" dirty="0"/>
              <a:t> (Python 3.12)</a:t>
            </a:r>
            <a:r>
              <a:rPr lang="en-IN" sz="1600" dirty="0"/>
              <a:t> -</a:t>
            </a:r>
            <a:r>
              <a:rPr sz="1600" dirty="0"/>
              <a:t> Asynchronous REST API execution, </a:t>
            </a:r>
            <a:r>
              <a:rPr sz="1600" dirty="0" err="1"/>
              <a:t>Pydantic</a:t>
            </a:r>
            <a:r>
              <a:rPr sz="1600" dirty="0"/>
              <a:t> type safety, and instant auto-generated </a:t>
            </a:r>
            <a:r>
              <a:rPr sz="1600" dirty="0" err="1"/>
              <a:t>OpenAPI</a:t>
            </a:r>
            <a:r>
              <a:rPr sz="1600" dirty="0"/>
              <a:t> documentation.</a:t>
            </a:r>
          </a:p>
          <a:p>
            <a:pPr algn="just"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•</a:t>
            </a:r>
            <a:r>
              <a:rPr sz="1600" dirty="0"/>
              <a:t> </a:t>
            </a:r>
            <a:r>
              <a:rPr sz="1600" b="1" dirty="0"/>
              <a:t>AI Model </a:t>
            </a:r>
            <a:r>
              <a:rPr lang="en-IN" sz="1600" b="1" dirty="0"/>
              <a:t>:</a:t>
            </a:r>
            <a:r>
              <a:rPr sz="1600" b="1" dirty="0"/>
              <a:t> </a:t>
            </a:r>
            <a:r>
              <a:rPr sz="1600" dirty="0"/>
              <a:t>Google Gemini API (gemini-1.5-flash)</a:t>
            </a:r>
            <a:r>
              <a:rPr lang="en-IN" sz="1600" dirty="0"/>
              <a:t> -</a:t>
            </a:r>
            <a:r>
              <a:rPr sz="1600" dirty="0"/>
              <a:t> Sub-second inference latency, high accuracy in sentiment scoring and contextual text generation.</a:t>
            </a:r>
          </a:p>
          <a:p>
            <a:pPr algn="just"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•</a:t>
            </a:r>
            <a:r>
              <a:rPr sz="1600" dirty="0"/>
              <a:t> </a:t>
            </a:r>
            <a:r>
              <a:rPr sz="1600" b="1" dirty="0"/>
              <a:t>Database </a:t>
            </a:r>
            <a:r>
              <a:rPr lang="en-IN" sz="1600" b="1" dirty="0"/>
              <a:t>:</a:t>
            </a:r>
            <a:r>
              <a:rPr sz="1600" dirty="0"/>
              <a:t> PostgreSQL (</a:t>
            </a:r>
            <a:r>
              <a:rPr sz="1600" dirty="0" err="1"/>
              <a:t>Supabase</a:t>
            </a:r>
            <a:r>
              <a:rPr sz="1600" dirty="0"/>
              <a:t>)</a:t>
            </a:r>
            <a:r>
              <a:rPr lang="en-IN" sz="1600" dirty="0"/>
              <a:t> -</a:t>
            </a:r>
            <a:r>
              <a:rPr sz="1600" dirty="0"/>
              <a:t> Relational integrity, ACID compliance, with local SQLite fallback engine for offline resilience.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2" y="457200"/>
            <a:ext cx="10728655" cy="759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8B5CF6"/>
                </a:solidFill>
              </a:defRPr>
            </a:pPr>
            <a:r>
              <a:rPr sz="2600" dirty="0"/>
              <a:t>Frontend Overview &amp; Live Application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rPr sz="1400" dirty="0"/>
              <a:t>Responsive Interface &amp; Real-time Analytics Dashboard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2921" y="1737360"/>
            <a:ext cx="5212080" cy="3625948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5" name="Rounded Rectangle 4"/>
          <p:cNvSpPr/>
          <p:nvPr/>
        </p:nvSpPr>
        <p:spPr>
          <a:xfrm>
            <a:off x="6217920" y="1737360"/>
            <a:ext cx="52120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just">
              <a:spcAft>
                <a:spcPts val="1000"/>
              </a:spcAft>
              <a:defRPr sz="1400">
                <a:solidFill>
                  <a:srgbClr val="F1F5F9"/>
                </a:solidFill>
              </a:defRPr>
            </a:pPr>
            <a:r>
              <a:rPr lang="en-IN" sz="1400" dirty="0">
                <a:solidFill>
                  <a:srgbClr val="000000"/>
                </a:solidFill>
                <a:latin typeface="Calibri" panose="020F0502020204030204" pitchFamily="34" charset="0"/>
              </a:rPr>
              <a:t>•</a:t>
            </a:r>
            <a:r>
              <a:rPr sz="1400" dirty="0"/>
              <a:t> Live Application URL: </a:t>
            </a:r>
            <a:r>
              <a:rPr sz="1400" b="1" dirty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https://revlens.abhinesh.codes</a:t>
            </a:r>
            <a:endParaRPr sz="1400" b="1" dirty="0">
              <a:solidFill>
                <a:schemeClr val="accent2"/>
              </a:solidFill>
            </a:endParaRPr>
          </a:p>
          <a:p>
            <a:pPr algn="just">
              <a:spcAft>
                <a:spcPts val="1000"/>
              </a:spcAft>
              <a:defRPr sz="1400">
                <a:solidFill>
                  <a:srgbClr val="F1F5F9"/>
                </a:solidFill>
              </a:defRPr>
            </a:pPr>
            <a:r>
              <a:rPr lang="en-IN" sz="1400" dirty="0">
                <a:solidFill>
                  <a:srgbClr val="000000"/>
                </a:solidFill>
                <a:latin typeface="Calibri" panose="020F0502020204030204" pitchFamily="34" charset="0"/>
              </a:rPr>
              <a:t>•</a:t>
            </a:r>
            <a:r>
              <a:rPr sz="1400" dirty="0"/>
              <a:t> </a:t>
            </a:r>
            <a:r>
              <a:rPr sz="1400" b="1" dirty="0"/>
              <a:t>Real-time Metrics Dashboard: </a:t>
            </a:r>
            <a:r>
              <a:rPr sz="1400" dirty="0"/>
              <a:t>Visual breakdown of average guest ratings, total reviews, and sentiment distribution.</a:t>
            </a:r>
          </a:p>
          <a:p>
            <a:pPr algn="just">
              <a:spcAft>
                <a:spcPts val="1000"/>
              </a:spcAft>
              <a:defRPr sz="1400">
                <a:solidFill>
                  <a:srgbClr val="F1F5F9"/>
                </a:solidFill>
              </a:defRPr>
            </a:pPr>
            <a:r>
              <a:rPr lang="en-IN" sz="1400" dirty="0">
                <a:solidFill>
                  <a:srgbClr val="000000"/>
                </a:solidFill>
                <a:latin typeface="Calibri" panose="020F0502020204030204" pitchFamily="34" charset="0"/>
              </a:rPr>
              <a:t>•</a:t>
            </a:r>
            <a:r>
              <a:rPr sz="1400" dirty="0"/>
              <a:t> </a:t>
            </a:r>
            <a:r>
              <a:rPr sz="1400" b="1" dirty="0"/>
              <a:t>Dynamic Search &amp; Filtering:</a:t>
            </a:r>
            <a:r>
              <a:rPr sz="1400" dirty="0"/>
              <a:t> Live keyword, property, and rating filters with instantaneous client-side updates.</a:t>
            </a:r>
          </a:p>
          <a:p>
            <a:pPr algn="just">
              <a:spcAft>
                <a:spcPts val="1000"/>
              </a:spcAft>
              <a:defRPr sz="1400">
                <a:solidFill>
                  <a:srgbClr val="F1F5F9"/>
                </a:solidFill>
              </a:defRPr>
            </a:pPr>
            <a:r>
              <a:rPr lang="en-IN" sz="1400" dirty="0">
                <a:solidFill>
                  <a:srgbClr val="000000"/>
                </a:solidFill>
                <a:latin typeface="Calibri" panose="020F0502020204030204" pitchFamily="34" charset="0"/>
              </a:rPr>
              <a:t>•</a:t>
            </a:r>
            <a:r>
              <a:rPr sz="1400" dirty="0"/>
              <a:t> </a:t>
            </a:r>
            <a:r>
              <a:rPr sz="1400" b="1" dirty="0"/>
              <a:t>User Experience:</a:t>
            </a:r>
            <a:r>
              <a:rPr sz="1400" dirty="0"/>
              <a:t> Built with custom typography, dark theme tokens, modal dialogues, and responsive mobile ergonomics.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2" y="457200"/>
            <a:ext cx="10728655" cy="759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8B5CF6"/>
                </a:solidFill>
              </a:defRPr>
            </a:pPr>
            <a:r>
              <a:rPr sz="2600" dirty="0"/>
              <a:t>Backend APIs &amp; Testing Verification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rPr sz="1400" dirty="0" err="1"/>
              <a:t>FastAPI</a:t>
            </a:r>
            <a:r>
              <a:rPr sz="1400" dirty="0"/>
              <a:t> REST API Architecture &amp; Validation</a:t>
            </a:r>
          </a:p>
        </p:txBody>
      </p:sp>
      <p:pic>
        <p:nvPicPr>
          <p:cNvPr id="4" name="Picture 3" descr="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731" y="1411295"/>
            <a:ext cx="521208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1" y="1411295"/>
            <a:ext cx="5900361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just">
              <a:spcAft>
                <a:spcPts val="1000"/>
              </a:spcAft>
              <a:defRPr sz="1400">
                <a:solidFill>
                  <a:srgbClr val="F1F5F9"/>
                </a:solidFill>
              </a:defRPr>
            </a:pPr>
            <a:r>
              <a:rPr lang="en-IN" sz="1400" dirty="0">
                <a:solidFill>
                  <a:srgbClr val="000000"/>
                </a:solidFill>
                <a:latin typeface="Calibri" panose="020F0502020204030204" pitchFamily="34" charset="0"/>
              </a:rPr>
              <a:t>•</a:t>
            </a:r>
            <a:r>
              <a:rPr sz="1400" b="1" dirty="0"/>
              <a:t>In</a:t>
            </a:r>
            <a:r>
              <a:rPr lang="en-IN" sz="1400" b="1" dirty="0"/>
              <a:t>t</a:t>
            </a:r>
            <a:r>
              <a:rPr sz="1400" b="1" dirty="0" err="1"/>
              <a:t>eractive</a:t>
            </a:r>
            <a:r>
              <a:rPr lang="en-IN" sz="1400" b="1" dirty="0"/>
              <a:t> </a:t>
            </a:r>
            <a:r>
              <a:rPr sz="1400" b="1" dirty="0"/>
              <a:t>Swagger Docs:</a:t>
            </a:r>
            <a:r>
              <a:rPr sz="1400" dirty="0"/>
              <a:t> </a:t>
            </a:r>
            <a:r>
              <a:rPr sz="1400" dirty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https://revlens</a:t>
            </a:r>
            <a:r>
              <a:rPr lang="en-IN" sz="1400" dirty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</a:t>
            </a:r>
            <a:r>
              <a:rPr sz="1400" dirty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backend.onrender.com/docs</a:t>
            </a:r>
            <a:endParaRPr sz="1400" dirty="0">
              <a:solidFill>
                <a:schemeClr val="accent2"/>
              </a:solidFill>
            </a:endParaRPr>
          </a:p>
          <a:p>
            <a:pPr algn="just">
              <a:spcAft>
                <a:spcPts val="1000"/>
              </a:spcAft>
              <a:defRPr sz="1400">
                <a:solidFill>
                  <a:srgbClr val="F1F5F9"/>
                </a:solidFill>
              </a:defRPr>
            </a:pPr>
            <a:endParaRPr lang="en-IN" sz="1400" dirty="0"/>
          </a:p>
          <a:p>
            <a:pPr algn="just">
              <a:spcAft>
                <a:spcPts val="1000"/>
              </a:spcAft>
              <a:defRPr sz="1400">
                <a:solidFill>
                  <a:srgbClr val="F1F5F9"/>
                </a:solidFill>
              </a:defRPr>
            </a:pPr>
            <a:r>
              <a:rPr lang="en-IN" sz="1400" dirty="0">
                <a:solidFill>
                  <a:srgbClr val="000000"/>
                </a:solidFill>
                <a:latin typeface="Calibri" panose="020F0502020204030204" pitchFamily="34" charset="0"/>
              </a:rPr>
              <a:t>•</a:t>
            </a:r>
            <a:r>
              <a:rPr sz="1400" dirty="0"/>
              <a:t> </a:t>
            </a:r>
            <a:r>
              <a:rPr sz="1400" b="1" dirty="0"/>
              <a:t>API 1 </a:t>
            </a:r>
            <a:r>
              <a:rPr lang="en-IN" sz="1400" b="1" dirty="0"/>
              <a:t>:</a:t>
            </a:r>
            <a:r>
              <a:rPr sz="1400" dirty="0"/>
              <a:t> POST </a:t>
            </a:r>
            <a:r>
              <a:rPr sz="1400" dirty="0">
                <a:solidFill>
                  <a:srgbClr val="00B0F0"/>
                </a:solidFill>
              </a:rPr>
              <a:t>/</a:t>
            </a:r>
            <a:r>
              <a:rPr sz="1400" dirty="0" err="1">
                <a:solidFill>
                  <a:srgbClr val="00B0F0"/>
                </a:solidFill>
              </a:rPr>
              <a:t>api</a:t>
            </a:r>
            <a:r>
              <a:rPr sz="1400" dirty="0">
                <a:solidFill>
                  <a:srgbClr val="00B0F0"/>
                </a:solidFill>
              </a:rPr>
              <a:t>/ai/analyze-review</a:t>
            </a:r>
            <a:r>
              <a:rPr sz="1400" dirty="0"/>
              <a:t>: Accepts review text, passes it to Gemini LLM to return sentiment (positive/neutral/negative), spam flags, and confidence scores.</a:t>
            </a:r>
          </a:p>
          <a:p>
            <a:pPr algn="just">
              <a:spcAft>
                <a:spcPts val="1000"/>
              </a:spcAft>
              <a:defRPr sz="1400">
                <a:solidFill>
                  <a:srgbClr val="F1F5F9"/>
                </a:solidFill>
              </a:defRPr>
            </a:pPr>
            <a:endParaRPr lang="en-IN" sz="1400" dirty="0"/>
          </a:p>
          <a:p>
            <a:pPr algn="just">
              <a:spcAft>
                <a:spcPts val="1000"/>
              </a:spcAft>
              <a:defRPr sz="1400">
                <a:solidFill>
                  <a:srgbClr val="F1F5F9"/>
                </a:solidFill>
              </a:defRPr>
            </a:pPr>
            <a:r>
              <a:rPr lang="en-IN" sz="1400" dirty="0">
                <a:solidFill>
                  <a:srgbClr val="000000"/>
                </a:solidFill>
                <a:latin typeface="Calibri" panose="020F0502020204030204" pitchFamily="34" charset="0"/>
              </a:rPr>
              <a:t>•</a:t>
            </a:r>
            <a:r>
              <a:rPr sz="1400" dirty="0"/>
              <a:t> </a:t>
            </a:r>
            <a:r>
              <a:rPr sz="1400" b="1" dirty="0"/>
              <a:t>API 2 </a:t>
            </a:r>
            <a:r>
              <a:rPr lang="en-IN" sz="1400" b="1" dirty="0"/>
              <a:t>:</a:t>
            </a:r>
            <a:r>
              <a:rPr sz="1400" dirty="0"/>
              <a:t> POST </a:t>
            </a:r>
            <a:r>
              <a:rPr sz="1400" dirty="0">
                <a:solidFill>
                  <a:srgbClr val="00B0F0"/>
                </a:solidFill>
              </a:rPr>
              <a:t>/</a:t>
            </a:r>
            <a:r>
              <a:rPr sz="1400" dirty="0" err="1">
                <a:solidFill>
                  <a:srgbClr val="00B0F0"/>
                </a:solidFill>
              </a:rPr>
              <a:t>api</a:t>
            </a:r>
            <a:r>
              <a:rPr sz="1400" dirty="0">
                <a:solidFill>
                  <a:srgbClr val="00B0F0"/>
                </a:solidFill>
              </a:rPr>
              <a:t>/auth/login</a:t>
            </a:r>
            <a:r>
              <a:rPr sz="1400" dirty="0"/>
              <a:t> &amp; GET </a:t>
            </a:r>
            <a:r>
              <a:rPr sz="1400" dirty="0">
                <a:solidFill>
                  <a:srgbClr val="00B0F0"/>
                </a:solidFill>
              </a:rPr>
              <a:t>/</a:t>
            </a:r>
            <a:r>
              <a:rPr sz="1400" dirty="0" err="1">
                <a:solidFill>
                  <a:srgbClr val="00B0F0"/>
                </a:solidFill>
              </a:rPr>
              <a:t>api</a:t>
            </a:r>
            <a:r>
              <a:rPr sz="1400" dirty="0">
                <a:solidFill>
                  <a:srgbClr val="00B0F0"/>
                </a:solidFill>
              </a:rPr>
              <a:t>/reviews</a:t>
            </a:r>
            <a:r>
              <a:rPr sz="1400" dirty="0"/>
              <a:t>: Authenticates host credentials with </a:t>
            </a:r>
            <a:r>
              <a:rPr sz="1400" dirty="0" err="1"/>
              <a:t>bcrypt</a:t>
            </a:r>
            <a:r>
              <a:rPr sz="1400" dirty="0"/>
              <a:t> password hashing, issues JWT bearer tokens, and executes </a:t>
            </a:r>
            <a:r>
              <a:rPr sz="1400" dirty="0" err="1"/>
              <a:t>SQLAlchemy</a:t>
            </a:r>
            <a:r>
              <a:rPr sz="1400" dirty="0"/>
              <a:t> filtered queries.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2" y="457200"/>
            <a:ext cx="10728655" cy="759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8B5CF6"/>
                </a:solidFill>
              </a:defRPr>
            </a:pPr>
            <a:r>
              <a:rPr sz="2600" dirty="0"/>
              <a:t>Database Selected &amp; Relational Schema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rPr sz="1400" dirty="0"/>
              <a:t>PostgreSQL hosted on </a:t>
            </a:r>
            <a:r>
              <a:rPr sz="1400" dirty="0" err="1"/>
              <a:t>Supabase</a:t>
            </a:r>
            <a:r>
              <a:rPr sz="1400" dirty="0"/>
              <a:t> Cloud (with Local SQLite Fallback)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2" y="1737360"/>
            <a:ext cx="10728655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rPr lang="en-IN" sz="1600" dirty="0">
                <a:solidFill>
                  <a:schemeClr val="tx1"/>
                </a:solidFill>
              </a:rPr>
              <a:t>•</a:t>
            </a:r>
            <a:r>
              <a:rPr sz="1600" dirty="0"/>
              <a:t> </a:t>
            </a:r>
            <a:r>
              <a:rPr sz="1600" b="1" dirty="0"/>
              <a:t>Database Selected:</a:t>
            </a:r>
            <a:r>
              <a:rPr sz="1600" dirty="0"/>
              <a:t> PostgreSQL hosted on </a:t>
            </a:r>
            <a:r>
              <a:rPr sz="1600" dirty="0" err="1"/>
              <a:t>Supabase</a:t>
            </a:r>
            <a:r>
              <a:rPr sz="1600" dirty="0"/>
              <a:t> Cloud with connection pooling and SSL encryption.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endParaRPr lang="en-IN" sz="1600" dirty="0">
              <a:solidFill>
                <a:schemeClr val="tx1"/>
              </a:solidFill>
            </a:endParaRP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rPr lang="en-IN" sz="1600" dirty="0">
                <a:solidFill>
                  <a:schemeClr val="tx1"/>
                </a:solidFill>
              </a:rPr>
              <a:t>•</a:t>
            </a:r>
            <a:r>
              <a:rPr sz="1600" dirty="0"/>
              <a:t> </a:t>
            </a:r>
            <a:r>
              <a:rPr sz="1600" b="1" dirty="0"/>
              <a:t>Relational Schema Structure: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rPr lang="en-IN" sz="1600" dirty="0">
                <a:solidFill>
                  <a:schemeClr val="tx1"/>
                </a:solidFill>
              </a:rPr>
              <a:t>	৹</a:t>
            </a:r>
            <a:r>
              <a:rPr sz="1600" dirty="0"/>
              <a:t>    User: Stores host authentication, email, </a:t>
            </a:r>
            <a:r>
              <a:rPr sz="1600" dirty="0" err="1"/>
              <a:t>hashed_password</a:t>
            </a:r>
            <a:r>
              <a:rPr sz="1600" dirty="0"/>
              <a:t>, and </a:t>
            </a:r>
            <a:r>
              <a:rPr sz="1600" dirty="0" err="1"/>
              <a:t>created_at</a:t>
            </a:r>
            <a:r>
              <a:rPr sz="1600" dirty="0"/>
              <a:t> timestamps.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rPr lang="en-IN" sz="1600" dirty="0">
                <a:solidFill>
                  <a:schemeClr val="tx1"/>
                </a:solidFill>
              </a:rPr>
              <a:t>	৹</a:t>
            </a:r>
            <a:r>
              <a:rPr sz="1600" dirty="0"/>
              <a:t>    Property (1:N): Relates homestay properties to owner User ID with title, location, and metadata.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rPr lang="en-IN" sz="1600" dirty="0">
                <a:solidFill>
                  <a:schemeClr val="tx1"/>
                </a:solidFill>
              </a:rPr>
              <a:t>	৹</a:t>
            </a:r>
            <a:r>
              <a:rPr sz="1600" dirty="0"/>
              <a:t>    Review (1:N): Relates reviews to Property ID with rating (1-5), sentiment score, spam status, and author name.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endParaRPr lang="en-IN" sz="1600" dirty="0">
              <a:solidFill>
                <a:schemeClr val="tx1"/>
              </a:solidFill>
            </a:endParaRP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rPr lang="en-IN" sz="1600" dirty="0">
                <a:solidFill>
                  <a:schemeClr val="tx1"/>
                </a:solidFill>
              </a:rPr>
              <a:t>•</a:t>
            </a:r>
            <a:r>
              <a:rPr sz="1600" dirty="0"/>
              <a:t> </a:t>
            </a:r>
            <a:r>
              <a:rPr sz="1600" b="1" dirty="0"/>
              <a:t>Rationale:</a:t>
            </a:r>
            <a:r>
              <a:rPr sz="1600" dirty="0"/>
              <a:t> Ensures strict foreign key integrity, fast relational joins, ACID compliance, and effortless cloud scaling.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2" y="457200"/>
            <a:ext cx="10728655" cy="759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8B5CF6"/>
                </a:solidFill>
              </a:defRPr>
            </a:pPr>
            <a:r>
              <a:rPr sz="2600" dirty="0"/>
              <a:t>AI Feature &amp; LLM Integration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rPr sz="1400" dirty="0"/>
              <a:t>Google Gemini 1.5 Flash API + Local Heuristic Fallback</a:t>
            </a:r>
          </a:p>
        </p:txBody>
      </p:sp>
      <p:pic>
        <p:nvPicPr>
          <p:cNvPr id="4" name="Picture 3" descr="ai_reply_ver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521208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17920" y="1737360"/>
            <a:ext cx="52120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400">
                <a:solidFill>
                  <a:srgbClr val="F1F5F9"/>
                </a:solidFill>
              </a:defRPr>
            </a:pPr>
            <a:r>
              <a:rPr lang="en-IN" sz="1400" dirty="0">
                <a:solidFill>
                  <a:srgbClr val="000000"/>
                </a:solidFill>
                <a:latin typeface="Calibri" panose="020F0502020204030204" pitchFamily="34" charset="0"/>
              </a:rPr>
              <a:t>•</a:t>
            </a:r>
            <a:r>
              <a:rPr sz="1400" dirty="0"/>
              <a:t> </a:t>
            </a:r>
            <a:r>
              <a:rPr sz="1400" b="1" dirty="0"/>
              <a:t>LLM Model Selected:</a:t>
            </a:r>
            <a:r>
              <a:rPr sz="1400" dirty="0"/>
              <a:t> Google Gemini API (gemini-1.5-flash).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</a:defRPr>
            </a:pPr>
            <a:r>
              <a:rPr lang="en-IN" sz="1400" dirty="0">
                <a:solidFill>
                  <a:srgbClr val="000000"/>
                </a:solidFill>
                <a:latin typeface="Calibri" panose="020F0502020204030204" pitchFamily="34" charset="0"/>
              </a:rPr>
              <a:t>•</a:t>
            </a:r>
            <a:r>
              <a:rPr sz="1400" dirty="0"/>
              <a:t> </a:t>
            </a:r>
            <a:r>
              <a:rPr sz="1400" b="1" dirty="0"/>
              <a:t>Use Case 1 </a:t>
            </a:r>
            <a:r>
              <a:rPr lang="en-IN" sz="1400" b="1" dirty="0"/>
              <a:t>:</a:t>
            </a:r>
            <a:r>
              <a:rPr sz="1400" dirty="0"/>
              <a:t> Sentiment Classification: Analyzes guest review text and classifies sentiment into positive, neutral, or negative.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</a:defRPr>
            </a:pPr>
            <a:r>
              <a:rPr lang="en-IN" sz="1400" dirty="0">
                <a:solidFill>
                  <a:srgbClr val="000000"/>
                </a:solidFill>
                <a:latin typeface="Calibri" panose="020F0502020204030204" pitchFamily="34" charset="0"/>
              </a:rPr>
              <a:t>•</a:t>
            </a:r>
            <a:r>
              <a:rPr sz="1400" dirty="0"/>
              <a:t> </a:t>
            </a:r>
            <a:r>
              <a:rPr sz="1400" b="1" dirty="0"/>
              <a:t>Use Case 2 </a:t>
            </a:r>
            <a:r>
              <a:rPr lang="en-IN" sz="1400" b="1" dirty="0"/>
              <a:t>:</a:t>
            </a:r>
            <a:r>
              <a:rPr sz="1400" dirty="0"/>
              <a:t> Abuse &amp; Spam Audit: Detects promotional links, malicious patterns, or abusive language.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</a:defRPr>
            </a:pPr>
            <a:r>
              <a:rPr lang="en-IN" sz="1400" dirty="0">
                <a:solidFill>
                  <a:srgbClr val="000000"/>
                </a:solidFill>
                <a:latin typeface="Calibri" panose="020F0502020204030204" pitchFamily="34" charset="0"/>
              </a:rPr>
              <a:t>•</a:t>
            </a:r>
            <a:r>
              <a:rPr sz="1400" dirty="0"/>
              <a:t> </a:t>
            </a:r>
            <a:r>
              <a:rPr sz="1400" b="1" dirty="0"/>
              <a:t>Use Case 3 </a:t>
            </a:r>
            <a:r>
              <a:rPr lang="en-IN" sz="1400" b="1" dirty="0"/>
              <a:t>:</a:t>
            </a:r>
            <a:r>
              <a:rPr sz="1400" dirty="0"/>
              <a:t> AI Response Assistant: Generates brand-aligned, empathetic host replies based on rating and tone parameters.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</a:defRPr>
            </a:pPr>
            <a:r>
              <a:rPr lang="en-IN" sz="1400" dirty="0">
                <a:solidFill>
                  <a:srgbClr val="000000"/>
                </a:solidFill>
                <a:latin typeface="Calibri" panose="020F0502020204030204" pitchFamily="34" charset="0"/>
              </a:rPr>
              <a:t>•</a:t>
            </a:r>
            <a:r>
              <a:rPr sz="1400" dirty="0"/>
              <a:t> </a:t>
            </a:r>
            <a:r>
              <a:rPr sz="1400" b="1" dirty="0"/>
              <a:t>Uptime Guarantee:</a:t>
            </a:r>
            <a:r>
              <a:rPr sz="1400" dirty="0"/>
              <a:t> Integrated local NLP heuristic engine ensures 100% service uptime even if API quotas freeze.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2" y="457200"/>
            <a:ext cx="10728655" cy="759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8B5CF6"/>
                </a:solidFill>
              </a:defRPr>
            </a:pPr>
            <a:r>
              <a:rPr sz="2600" dirty="0"/>
              <a:t>Hosting Services &amp; Cloud Deployment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rPr sz="1400" dirty="0"/>
              <a:t>Production Multi-Cloud Infrastructure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2" y="1737360"/>
            <a:ext cx="10728655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just"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rPr sz="1600" dirty="0">
                <a:solidFill>
                  <a:schemeClr val="tx1"/>
                </a:solidFill>
              </a:rPr>
              <a:t>•</a:t>
            </a:r>
            <a:r>
              <a:rPr sz="1600" dirty="0"/>
              <a:t> </a:t>
            </a:r>
            <a:r>
              <a:rPr sz="1600" b="1" dirty="0"/>
              <a:t>Frontend Hosting </a:t>
            </a:r>
            <a:r>
              <a:rPr lang="en-IN" sz="1600" b="1" dirty="0"/>
              <a:t>:</a:t>
            </a:r>
            <a:r>
              <a:rPr sz="1600" dirty="0"/>
              <a:t> </a:t>
            </a:r>
            <a:r>
              <a:rPr sz="1600" dirty="0" err="1"/>
              <a:t>Vercel</a:t>
            </a:r>
            <a:r>
              <a:rPr lang="en-IN" sz="1600" dirty="0"/>
              <a:t> -</a:t>
            </a:r>
            <a:r>
              <a:rPr sz="1600" dirty="0"/>
              <a:t> Deployed at </a:t>
            </a:r>
            <a:r>
              <a:rPr sz="1600" dirty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https://revlens.abhinesh.codes</a:t>
            </a:r>
            <a:r>
              <a:rPr sz="1600" dirty="0"/>
              <a:t> with global CDN distribution and automatic GitHub CI/CD integration.</a:t>
            </a:r>
          </a:p>
          <a:p>
            <a:pPr algn="just"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endParaRPr lang="en-IN" sz="1600" dirty="0"/>
          </a:p>
          <a:p>
            <a:pPr algn="just"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rPr lang="en-IN" sz="1600" dirty="0">
                <a:solidFill>
                  <a:schemeClr val="tx1"/>
                </a:solidFill>
              </a:rPr>
              <a:t>•</a:t>
            </a:r>
            <a:r>
              <a:rPr sz="1600" b="1" dirty="0"/>
              <a:t> Backend Hosting </a:t>
            </a:r>
            <a:r>
              <a:rPr lang="en-IN" sz="1600" b="1" dirty="0"/>
              <a:t>:</a:t>
            </a:r>
            <a:r>
              <a:rPr sz="1600" dirty="0"/>
              <a:t> Render</a:t>
            </a:r>
            <a:r>
              <a:rPr lang="en-IN" sz="1600" dirty="0"/>
              <a:t> -</a:t>
            </a:r>
            <a:r>
              <a:rPr sz="1600" dirty="0"/>
              <a:t> Managed </a:t>
            </a:r>
            <a:r>
              <a:rPr sz="1600" dirty="0" err="1"/>
              <a:t>FastAPI</a:t>
            </a:r>
            <a:r>
              <a:rPr sz="1600" dirty="0"/>
              <a:t> Python Web Service hosted at </a:t>
            </a:r>
            <a:r>
              <a:rPr sz="1600" dirty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https://revlens-backend.onrender.com/</a:t>
            </a:r>
            <a:r>
              <a:rPr sz="1600" dirty="0"/>
              <a:t>.</a:t>
            </a:r>
          </a:p>
          <a:p>
            <a:pPr algn="just"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endParaRPr lang="en-IN" sz="1600" dirty="0"/>
          </a:p>
          <a:p>
            <a:pPr algn="just"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rPr lang="en-IN" sz="1600" dirty="0">
                <a:solidFill>
                  <a:schemeClr val="tx1"/>
                </a:solidFill>
              </a:rPr>
              <a:t>•</a:t>
            </a:r>
            <a:r>
              <a:rPr sz="1600" dirty="0"/>
              <a:t> </a:t>
            </a:r>
            <a:r>
              <a:rPr sz="1600" b="1" dirty="0"/>
              <a:t>Database Cloud </a:t>
            </a:r>
            <a:r>
              <a:rPr lang="en-IN" sz="1600" b="1" dirty="0"/>
              <a:t>:</a:t>
            </a:r>
            <a:r>
              <a:rPr sz="1600" dirty="0"/>
              <a:t> </a:t>
            </a:r>
            <a:r>
              <a:rPr sz="1600" dirty="0" err="1"/>
              <a:t>Supabase</a:t>
            </a:r>
            <a:r>
              <a:rPr lang="en-IN" sz="1600" dirty="0"/>
              <a:t> -</a:t>
            </a:r>
            <a:r>
              <a:rPr sz="1600" dirty="0"/>
              <a:t> Managed PostgreSQL database instance with SSL security and connection pooling.</a:t>
            </a:r>
          </a:p>
          <a:p>
            <a:pPr algn="just"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endParaRPr lang="en-IN" sz="1600" dirty="0"/>
          </a:p>
          <a:p>
            <a:pPr algn="just"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rPr lang="en-IN" sz="1600" dirty="0">
                <a:solidFill>
                  <a:schemeClr val="tx1"/>
                </a:solidFill>
              </a:rPr>
              <a:t>•</a:t>
            </a:r>
            <a:r>
              <a:rPr sz="1600" dirty="0"/>
              <a:t> </a:t>
            </a:r>
            <a:r>
              <a:rPr sz="1600" b="1" dirty="0"/>
              <a:t>Domain &amp; DNS</a:t>
            </a:r>
            <a:r>
              <a:rPr lang="en-IN" sz="1600" b="1" dirty="0"/>
              <a:t> </a:t>
            </a:r>
            <a:r>
              <a:rPr sz="1600" b="1" dirty="0"/>
              <a:t>:</a:t>
            </a:r>
            <a:r>
              <a:rPr sz="1600" dirty="0"/>
              <a:t> Custom domain routed through Cloudflare DNS with full HTTPS SSL/TLS encryption.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2" y="457200"/>
            <a:ext cx="10728655" cy="759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8B5CF6"/>
                </a:solidFill>
              </a:defRPr>
            </a:pPr>
            <a:r>
              <a:rPr sz="2600" dirty="0"/>
              <a:t>Public Live URLs &amp; Access Links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rPr sz="1400" dirty="0"/>
              <a:t>All Links Are Publicly Accessible Online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2" y="1673582"/>
            <a:ext cx="7568416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just"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rPr lang="en-US" sz="1600" b="1" dirty="0">
                <a:solidFill>
                  <a:schemeClr val="tx1"/>
                </a:solidFill>
              </a:rPr>
              <a:t>•</a:t>
            </a:r>
            <a:r>
              <a:rPr lang="en-US" sz="1600" dirty="0"/>
              <a:t>          Live Frontend Application: </a:t>
            </a:r>
            <a:r>
              <a:rPr lang="en-US" sz="1600" dirty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https://revlens.abhinesh.codes</a:t>
            </a:r>
            <a:endParaRPr lang="en-US" sz="1600" dirty="0">
              <a:solidFill>
                <a:schemeClr val="accent2"/>
              </a:solidFill>
            </a:endParaRPr>
          </a:p>
          <a:p>
            <a:pPr algn="just"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endParaRPr lang="en-US" sz="1600" dirty="0">
              <a:solidFill>
                <a:schemeClr val="accent2"/>
              </a:solidFill>
            </a:endParaRPr>
          </a:p>
          <a:p>
            <a:pPr algn="just"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rPr lang="en-IN" sz="1600" b="1" dirty="0">
                <a:solidFill>
                  <a:schemeClr val="tx1"/>
                </a:solidFill>
              </a:rPr>
              <a:t>•</a:t>
            </a:r>
            <a:r>
              <a:rPr sz="1600" dirty="0"/>
              <a:t> ⚙️ </a:t>
            </a:r>
            <a:r>
              <a:rPr lang="en-IN" sz="1600" dirty="0"/>
              <a:t>  </a:t>
            </a:r>
            <a:r>
              <a:rPr sz="1600" dirty="0"/>
              <a:t>Live Backend REST API: </a:t>
            </a:r>
            <a:r>
              <a:rPr sz="1600" dirty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https://revlens-backend.onrender.com/</a:t>
            </a:r>
            <a:endParaRPr lang="en-IN" sz="1600" dirty="0">
              <a:solidFill>
                <a:schemeClr val="accent2"/>
              </a:solidFill>
            </a:endParaRPr>
          </a:p>
          <a:p>
            <a:pPr algn="just"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endParaRPr sz="1600" dirty="0">
              <a:solidFill>
                <a:schemeClr val="accent2"/>
              </a:solidFill>
            </a:endParaRPr>
          </a:p>
          <a:p>
            <a:pPr algn="just"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rPr lang="en-IN" sz="1600" b="1" dirty="0">
                <a:solidFill>
                  <a:schemeClr val="tx1"/>
                </a:solidFill>
              </a:rPr>
              <a:t>•</a:t>
            </a:r>
            <a:r>
              <a:rPr sz="1600" dirty="0"/>
              <a:t> 📖 </a:t>
            </a:r>
            <a:r>
              <a:rPr lang="en-IN" sz="1600" dirty="0"/>
              <a:t>  </a:t>
            </a:r>
            <a:r>
              <a:rPr sz="1600" dirty="0"/>
              <a:t>Interactive API Docs (Swagger): </a:t>
            </a:r>
            <a:r>
              <a:rPr sz="1600" dirty="0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https://revlens-backend.onrender.com/docs</a:t>
            </a:r>
            <a:endParaRPr lang="en-IN" sz="1600" dirty="0">
              <a:solidFill>
                <a:schemeClr val="accent2"/>
              </a:solidFill>
            </a:endParaRPr>
          </a:p>
          <a:p>
            <a:pPr algn="just"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endParaRPr sz="1600" dirty="0">
              <a:solidFill>
                <a:schemeClr val="accent2"/>
              </a:solidFill>
            </a:endParaRPr>
          </a:p>
          <a:p>
            <a:pPr algn="just"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rPr lang="en-IN" sz="1600" b="1" dirty="0">
                <a:solidFill>
                  <a:schemeClr val="tx1"/>
                </a:solidFill>
              </a:rPr>
              <a:t>•</a:t>
            </a:r>
            <a:r>
              <a:rPr sz="1600" dirty="0"/>
              <a:t>  </a:t>
            </a:r>
            <a:r>
              <a:rPr lang="en-IN" sz="1600" dirty="0"/>
              <a:t>       </a:t>
            </a:r>
            <a:r>
              <a:rPr sz="1600" dirty="0"/>
              <a:t>GitHub Code Repository: </a:t>
            </a:r>
            <a:r>
              <a:rPr sz="1600" dirty="0">
                <a:solidFill>
                  <a:schemeClr val="accent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https://github.com/strange-exe/revlens-ai</a:t>
            </a:r>
            <a:endParaRPr sz="1600" dirty="0">
              <a:solidFill>
                <a:schemeClr val="accent2"/>
              </a:solidFill>
            </a:endParaRPr>
          </a:p>
        </p:txBody>
      </p:sp>
      <p:pic>
        <p:nvPicPr>
          <p:cNvPr id="9" name="Picture 8">
            <a:hlinkClick r:id="rId5"/>
            <a:extLst>
              <a:ext uri="{FF2B5EF4-FFF2-40B4-BE49-F238E27FC236}">
                <a16:creationId xmlns:a16="http://schemas.microsoft.com/office/drawing/2014/main" id="{DD323722-BC63-0ED0-44CD-D588C0C92D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167909" y="5151847"/>
            <a:ext cx="342000" cy="342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1F78BF62-2A7E-BCD0-BAD3-94949C2560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6883" y="2506090"/>
            <a:ext cx="342900" cy="3429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B2AA0F8-B415-3EC7-6621-8A00221F227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7909" y="4288868"/>
            <a:ext cx="342000" cy="3420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DE4F7173-02FD-C0E4-1741-A3A586B68015}"/>
              </a:ext>
            </a:extLst>
          </p:cNvPr>
          <p:cNvPicPr>
            <a:picLocks noChangeAspect="1"/>
          </p:cNvPicPr>
          <p:nvPr/>
        </p:nvPicPr>
        <p:blipFill>
          <a:blip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6883" y="3397479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2" y="457200"/>
            <a:ext cx="10728655" cy="759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8B5CF6"/>
                </a:solidFill>
              </a:defRPr>
            </a:pPr>
            <a:r>
              <a:rPr sz="2600" dirty="0"/>
              <a:t>Internship Reflection &amp; Key Learnings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rPr sz="1400" dirty="0"/>
              <a:t>Technical Mastery &amp; Professional Growth Experience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2" y="1737360"/>
            <a:ext cx="10728655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just"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rPr sz="1600" b="1" dirty="0">
                <a:solidFill>
                  <a:schemeClr val="tx1"/>
                </a:solidFill>
              </a:rPr>
              <a:t>•</a:t>
            </a:r>
            <a:r>
              <a:rPr sz="1600" dirty="0"/>
              <a:t> </a:t>
            </a:r>
            <a:r>
              <a:rPr sz="1600" b="1" dirty="0"/>
              <a:t>Technical Skills Acquired:</a:t>
            </a:r>
            <a:r>
              <a:rPr sz="1600" dirty="0"/>
              <a:t> Full-stack API architecture with </a:t>
            </a:r>
            <a:r>
              <a:rPr sz="1600" dirty="0" err="1"/>
              <a:t>FastAPI</a:t>
            </a:r>
            <a:r>
              <a:rPr sz="1600" dirty="0"/>
              <a:t> &amp; React 18, LLM prompt engineering, production cloud deployments, and resilient database fallback design.</a:t>
            </a:r>
            <a:endParaRPr lang="en-IN" sz="1600" dirty="0"/>
          </a:p>
          <a:p>
            <a:pPr algn="just"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endParaRPr sz="1600" dirty="0"/>
          </a:p>
          <a:p>
            <a:pPr algn="just"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rPr lang="en-IN" sz="1600" b="1" dirty="0">
                <a:solidFill>
                  <a:schemeClr val="tx1"/>
                </a:solidFill>
              </a:rPr>
              <a:t>•</a:t>
            </a:r>
            <a:r>
              <a:rPr sz="1600" dirty="0"/>
              <a:t> </a:t>
            </a:r>
            <a:r>
              <a:rPr lang="en-IN" sz="1600" b="1" dirty="0"/>
              <a:t>Software Resilience: </a:t>
            </a:r>
            <a:r>
              <a:rPr sz="1600" dirty="0"/>
              <a:t>Learned to build defensive software with local heuristic fallbacks, proper CORS configurations, and graceful error handling.</a:t>
            </a:r>
            <a:endParaRPr lang="en-IN" sz="1600" dirty="0"/>
          </a:p>
          <a:p>
            <a:pPr algn="just"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endParaRPr sz="1600" dirty="0"/>
          </a:p>
          <a:p>
            <a:pPr algn="just"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rPr lang="en-IN" sz="1600" b="1" dirty="0">
                <a:solidFill>
                  <a:schemeClr val="tx1"/>
                </a:solidFill>
              </a:rPr>
              <a:t>•</a:t>
            </a:r>
            <a:r>
              <a:rPr sz="1600" dirty="0"/>
              <a:t> </a:t>
            </a:r>
            <a:r>
              <a:rPr sz="1600" b="1" dirty="0"/>
              <a:t>Overall Internship Experience:</a:t>
            </a:r>
            <a:r>
              <a:rPr sz="1600" dirty="0"/>
              <a:t> An incredibly rewarding, hands-on opportunity to bridge cutting-edge AI models with production-grade web applications under real-world engineering standards.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</TotalTime>
  <Words>933</Words>
  <Application>Microsoft Office PowerPoint</Application>
  <PresentationFormat>Widescreen</PresentationFormat>
  <Paragraphs>78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strange exe</cp:lastModifiedBy>
  <cp:revision>3</cp:revision>
  <dcterms:created xsi:type="dcterms:W3CDTF">2013-01-27T09:14:16Z</dcterms:created>
  <dcterms:modified xsi:type="dcterms:W3CDTF">2026-08-10T18:54:09Z</dcterms:modified>
  <cp:category/>
</cp:coreProperties>
</file>